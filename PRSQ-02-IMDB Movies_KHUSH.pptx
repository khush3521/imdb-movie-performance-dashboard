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34"/>
  </p:notesMasterIdLst>
  <p:handoutMasterIdLst>
    <p:handoutMasterId r:id="rId35"/>
  </p:handoutMasterIdLst>
  <p:sldIdLst>
    <p:sldId id="312" r:id="rId5"/>
    <p:sldId id="304" r:id="rId6"/>
    <p:sldId id="324" r:id="rId7"/>
    <p:sldId id="337" r:id="rId8"/>
    <p:sldId id="325" r:id="rId9"/>
    <p:sldId id="338" r:id="rId10"/>
    <p:sldId id="326" r:id="rId11"/>
    <p:sldId id="339" r:id="rId12"/>
    <p:sldId id="327" r:id="rId13"/>
    <p:sldId id="340" r:id="rId14"/>
    <p:sldId id="328" r:id="rId15"/>
    <p:sldId id="341" r:id="rId16"/>
    <p:sldId id="329" r:id="rId17"/>
    <p:sldId id="342" r:id="rId18"/>
    <p:sldId id="330" r:id="rId19"/>
    <p:sldId id="343" r:id="rId20"/>
    <p:sldId id="331" r:id="rId21"/>
    <p:sldId id="344" r:id="rId22"/>
    <p:sldId id="332" r:id="rId23"/>
    <p:sldId id="345" r:id="rId24"/>
    <p:sldId id="333" r:id="rId25"/>
    <p:sldId id="346" r:id="rId26"/>
    <p:sldId id="334" r:id="rId27"/>
    <p:sldId id="347" r:id="rId28"/>
    <p:sldId id="335" r:id="rId29"/>
    <p:sldId id="348" r:id="rId30"/>
    <p:sldId id="336" r:id="rId31"/>
    <p:sldId id="349" r:id="rId32"/>
    <p:sldId id="297" r:id="rId33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0"/>
            <a:ext cx="6392421" cy="3831221"/>
          </a:xfrm>
        </p:spPr>
        <p:txBody>
          <a:bodyPr anchor="ctr"/>
          <a:lstStyle/>
          <a:p>
            <a:r>
              <a:rPr lang="en-IN" dirty="0"/>
              <a:t>PRSQ-02-IMDB Movies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Prepared by:</a:t>
            </a:r>
            <a:br>
              <a:rPr lang="en-US" dirty="0"/>
            </a:br>
            <a:r>
              <a:rPr lang="en-US" dirty="0"/>
              <a:t>Khush Panchal</a:t>
            </a:r>
          </a:p>
          <a:p>
            <a:r>
              <a:rPr lang="en-US" b="1" dirty="0"/>
              <a:t>Role:</a:t>
            </a:r>
            <a:r>
              <a:rPr lang="en-US" dirty="0"/>
              <a:t> Data Analyst (</a:t>
            </a:r>
            <a:r>
              <a:rPr lang="en-IN" dirty="0"/>
              <a:t>PRSQL-01 - IMDB Movies</a:t>
            </a:r>
            <a:r>
              <a:rPr lang="en-US" dirty="0"/>
              <a:t>)</a:t>
            </a:r>
            <a:br>
              <a:rPr lang="en-US" dirty="0"/>
            </a:br>
            <a:r>
              <a:rPr lang="en-US" b="1" dirty="0"/>
              <a:t>Year:</a:t>
            </a:r>
            <a:r>
              <a:rPr lang="en-US" dirty="0"/>
              <a:t> 2026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65F3D-7BC4-7253-DE54-35A39468B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2410" y="457199"/>
            <a:ext cx="7043617" cy="1316072"/>
          </a:xfrm>
        </p:spPr>
        <p:txBody>
          <a:bodyPr/>
          <a:lstStyle/>
          <a:p>
            <a:r>
              <a:rPr lang="en-US" b="0" dirty="0"/>
              <a:t>1.Can you get all data about movies? 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94E79D-6322-BA8F-CF0E-BD5C9BDF9B0C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/>
          <a:stretch>
            <a:fillRect/>
          </a:stretch>
        </p:blipFill>
        <p:spPr>
          <a:xfrm>
            <a:off x="3931419" y="1883650"/>
            <a:ext cx="7043737" cy="12919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AAA1BD-649A-E36D-C18D-800EF3C15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410" y="4086059"/>
            <a:ext cx="7043738" cy="179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65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64A00-3A46-DC61-757B-D34ACC657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40186" y="1641988"/>
            <a:ext cx="10511627" cy="40275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1.Can you get all data about movies? </a:t>
            </a:r>
            <a:endParaRPr lang="en-US" sz="2800" b="1" dirty="0"/>
          </a:p>
          <a:p>
            <a:r>
              <a:rPr lang="en-US" sz="2800" b="1" dirty="0"/>
              <a:t>Insight:</a:t>
            </a:r>
            <a:br>
              <a:rPr lang="en-US" sz="2800" dirty="0"/>
            </a:br>
            <a:r>
              <a:rPr lang="en-US" sz="2800" dirty="0"/>
              <a:t>This query retrieves complete movie-level information such as title, budget, popularity, revenue, release date, and ratings. It helps understand the overall structure and attributes of movies stored in the IMDB dataset.</a:t>
            </a:r>
          </a:p>
          <a:p>
            <a:r>
              <a:rPr lang="en-US" sz="2800" b="1" dirty="0"/>
              <a:t>Result Meaning:</a:t>
            </a:r>
            <a:br>
              <a:rPr lang="en-US" sz="2800" dirty="0"/>
            </a:br>
            <a:r>
              <a:rPr lang="en-US" sz="2800" dirty="0"/>
              <a:t>You can analyze financial, popularity, and rating trends for each movie.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93583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A1EE5-A490-7F82-F67B-BBFD9B19F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990" y="570272"/>
            <a:ext cx="7043617" cy="1040768"/>
          </a:xfrm>
        </p:spPr>
        <p:txBody>
          <a:bodyPr/>
          <a:lstStyle/>
          <a:p>
            <a:r>
              <a:rPr lang="en-US" b="0" dirty="0"/>
              <a:t>2. How do you get all data about directors?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E3D983-B05A-8686-AB96-AE7AE28F0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94" y="1867004"/>
            <a:ext cx="6533181" cy="10627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DE190A-2E25-F315-AACC-126495B74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303" y="3691920"/>
            <a:ext cx="4856030" cy="30032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D3A1D5-4B91-8855-D624-F912590A11F5}"/>
              </a:ext>
            </a:extLst>
          </p:cNvPr>
          <p:cNvSpPr txBox="1"/>
          <p:nvPr/>
        </p:nvSpPr>
        <p:spPr>
          <a:xfrm>
            <a:off x="3851607" y="4286827"/>
            <a:ext cx="29201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OUTPUT:- </a:t>
            </a:r>
          </a:p>
        </p:txBody>
      </p:sp>
    </p:spTree>
    <p:extLst>
      <p:ext uri="{BB962C8B-B14F-4D97-AF65-F5344CB8AC3E}">
        <p14:creationId xmlns:p14="http://schemas.microsoft.com/office/powerpoint/2010/main" val="2369447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680E9-0A91-E94E-51BC-A0133D51D7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40186" y="1283680"/>
            <a:ext cx="10511627" cy="3948557"/>
          </a:xfrm>
        </p:spPr>
        <p:txBody>
          <a:bodyPr>
            <a:normAutofit/>
          </a:bodyPr>
          <a:lstStyle/>
          <a:p>
            <a:r>
              <a:rPr lang="en-US" sz="2800" b="1" dirty="0"/>
              <a:t>2. How do you get all data about directors?</a:t>
            </a:r>
          </a:p>
          <a:p>
            <a:r>
              <a:rPr lang="en-US" sz="2800" b="1" dirty="0"/>
              <a:t>Insight:</a:t>
            </a:r>
            <a:br>
              <a:rPr lang="en-US" sz="2800" dirty="0"/>
            </a:br>
            <a:r>
              <a:rPr lang="en-US" sz="2800" dirty="0"/>
              <a:t>This query provides complete details of all directors including their names, gender, department, and unique identifiers. It helps in understanding the director demographics.</a:t>
            </a:r>
          </a:p>
          <a:p>
            <a:r>
              <a:rPr lang="en-US" sz="2800" b="1" dirty="0"/>
              <a:t>Result Meaning:</a:t>
            </a:r>
            <a:br>
              <a:rPr lang="en-US" sz="2800" dirty="0"/>
            </a:br>
            <a:r>
              <a:rPr lang="en-US" sz="2800" dirty="0"/>
              <a:t>Useful for gender analysis, department-wise filtering, and mapping directors to movies.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10218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5B182-2774-1860-346C-4BEF2502E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8" y="457199"/>
            <a:ext cx="7043617" cy="1676093"/>
          </a:xfrm>
        </p:spPr>
        <p:txBody>
          <a:bodyPr/>
          <a:lstStyle/>
          <a:p>
            <a:r>
              <a:rPr lang="en-US" b="0" dirty="0"/>
              <a:t>3. Check how many movies are present in IMDB.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8E2EB-3053-D760-02C0-BA5D78B3E960}"/>
              </a:ext>
            </a:extLst>
          </p:cNvPr>
          <p:cNvSpPr txBox="1"/>
          <p:nvPr/>
        </p:nvSpPr>
        <p:spPr>
          <a:xfrm>
            <a:off x="3551903" y="3976489"/>
            <a:ext cx="25440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OUTPUT:-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49A8FC-C92B-F6D2-3771-C0F38805C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040" y="2348942"/>
            <a:ext cx="7737987" cy="8939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749B3E-1955-4CCD-E921-8B64AAD74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742" y="4219685"/>
            <a:ext cx="2200582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064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A9304-0866-8552-826A-C9336FCCA0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1283680"/>
            <a:ext cx="10511627" cy="3948557"/>
          </a:xfrm>
        </p:spPr>
        <p:txBody>
          <a:bodyPr>
            <a:normAutofit/>
          </a:bodyPr>
          <a:lstStyle/>
          <a:p>
            <a:r>
              <a:rPr lang="en-US" sz="3200" b="1" dirty="0"/>
              <a:t>3.  Check how many movies are present in IMDB</a:t>
            </a:r>
          </a:p>
          <a:p>
            <a:r>
              <a:rPr lang="en-US" sz="3200" b="1" dirty="0"/>
              <a:t>Insight:</a:t>
            </a:r>
            <a:br>
              <a:rPr lang="en-US" sz="3200" dirty="0"/>
            </a:br>
            <a:r>
              <a:rPr lang="en-US" sz="3200" dirty="0"/>
              <a:t>This query counts the total number of movies available in the dataset, showing the size and coverage of the IMDB data used.</a:t>
            </a:r>
          </a:p>
          <a:p>
            <a:r>
              <a:rPr lang="en-US" sz="3200" b="1" dirty="0"/>
              <a:t>Result Meaning:</a:t>
            </a:r>
            <a:br>
              <a:rPr lang="en-US" sz="3200" dirty="0"/>
            </a:br>
            <a:r>
              <a:rPr lang="en-US" sz="3200" dirty="0"/>
              <a:t>Gives an idea of dataset scale and completeness.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33250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B36AB-47A6-AC3C-61FE-D89CEF76F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6486" y="845515"/>
            <a:ext cx="7043617" cy="1946846"/>
          </a:xfrm>
        </p:spPr>
        <p:txBody>
          <a:bodyPr/>
          <a:lstStyle/>
          <a:p>
            <a:r>
              <a:rPr lang="en-US" b="0" dirty="0"/>
              <a:t>4. Find these 3 directors: James Cameron ; Luc Besson ; John Woo</a:t>
            </a:r>
            <a:br>
              <a:rPr lang="en-US" b="0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2ACA839-F250-1913-20E3-4BBFF40176E1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/>
          <a:stretch>
            <a:fillRect/>
          </a:stretch>
        </p:blipFill>
        <p:spPr>
          <a:xfrm>
            <a:off x="4382290" y="2422496"/>
            <a:ext cx="7043737" cy="10922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46F9CB-80E5-E90D-7B38-D81D178E9D15}"/>
              </a:ext>
            </a:extLst>
          </p:cNvPr>
          <p:cNvSpPr txBox="1"/>
          <p:nvPr/>
        </p:nvSpPr>
        <p:spPr>
          <a:xfrm>
            <a:off x="3758380" y="4065640"/>
            <a:ext cx="25440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OUTPUT:-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9DE183-0BB4-C8C7-B608-2BA28EB9D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001" y="4286169"/>
            <a:ext cx="4787583" cy="20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641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F3BC6-AFBB-4F66-4994-A1F55AAED3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17755" y="1454721"/>
            <a:ext cx="10511627" cy="3948557"/>
          </a:xfrm>
        </p:spPr>
        <p:txBody>
          <a:bodyPr>
            <a:normAutofit/>
          </a:bodyPr>
          <a:lstStyle/>
          <a:p>
            <a:r>
              <a:rPr lang="en-US" sz="2800" b="1" dirty="0"/>
              <a:t>4.  Find these 3 directors: James Cameron, Luc Besson, John Woo</a:t>
            </a:r>
          </a:p>
          <a:p>
            <a:r>
              <a:rPr lang="en-US" sz="2800" b="1" dirty="0"/>
              <a:t>Insight:</a:t>
            </a:r>
            <a:br>
              <a:rPr lang="en-US" sz="2800" dirty="0"/>
            </a:br>
            <a:r>
              <a:rPr lang="en-US" sz="2800" dirty="0"/>
              <a:t>This query filters specific well-known directors to verify their presence in the dataset.</a:t>
            </a:r>
          </a:p>
          <a:p>
            <a:r>
              <a:rPr lang="en-US" sz="2800" b="1" dirty="0"/>
              <a:t>Result Meaning:</a:t>
            </a:r>
            <a:br>
              <a:rPr lang="en-US" sz="2800" dirty="0"/>
            </a:br>
            <a:r>
              <a:rPr lang="en-US" sz="2800" dirty="0"/>
              <a:t>Confirms that these directors exist in the database and allows further analysis of their movies.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20824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BB177-8690-B366-D852-FBB887FBE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989392"/>
            <a:ext cx="7043617" cy="1527666"/>
          </a:xfrm>
        </p:spPr>
        <p:txBody>
          <a:bodyPr/>
          <a:lstStyle/>
          <a:p>
            <a:r>
              <a:rPr lang="en-US" b="0" dirty="0"/>
              <a:t>5. Find all directors with name starting with S.</a:t>
            </a:r>
            <a:br>
              <a:rPr lang="en-US" b="0" dirty="0"/>
            </a:b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60BFED0-D07D-F079-253E-EB4D87DC72DB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/>
          <a:stretch>
            <a:fillRect/>
          </a:stretch>
        </p:blipFill>
        <p:spPr>
          <a:xfrm>
            <a:off x="4108399" y="2179621"/>
            <a:ext cx="7043737" cy="13419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3AA01C-D5F5-CBBC-51D5-146A31D4B43A}"/>
              </a:ext>
            </a:extLst>
          </p:cNvPr>
          <p:cNvSpPr txBox="1"/>
          <p:nvPr/>
        </p:nvSpPr>
        <p:spPr>
          <a:xfrm>
            <a:off x="3758380" y="4065640"/>
            <a:ext cx="25440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OUTPUT:-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0331B5-AD69-9EE7-F545-F5013E009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477" y="3723173"/>
            <a:ext cx="2968475" cy="1977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161E5F-1EFA-6A98-1004-5AA3AC863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4722" y="4887760"/>
            <a:ext cx="2162477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360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5A7DA-F66C-1C75-8611-186917863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40186" y="1175525"/>
            <a:ext cx="10511627" cy="3948557"/>
          </a:xfrm>
        </p:spPr>
        <p:txBody>
          <a:bodyPr>
            <a:normAutofit lnSpcReduction="10000"/>
          </a:bodyPr>
          <a:lstStyle/>
          <a:p>
            <a:r>
              <a:rPr lang="en-US" sz="3200" b="1" dirty="0"/>
              <a:t>5. Find all directors with name starting with S</a:t>
            </a:r>
          </a:p>
          <a:p>
            <a:r>
              <a:rPr lang="en-US" sz="3200" b="1" dirty="0"/>
              <a:t>Insight:</a:t>
            </a:r>
            <a:br>
              <a:rPr lang="en-US" sz="3200" dirty="0"/>
            </a:br>
            <a:r>
              <a:rPr lang="en-US" sz="3200" dirty="0"/>
              <a:t>This query identifies directors whose names begin with the letter “S,” useful for alphabetical or pattern-based searches.</a:t>
            </a:r>
          </a:p>
          <a:p>
            <a:r>
              <a:rPr lang="en-US" sz="3200" b="1" dirty="0"/>
              <a:t>Result Meaning:</a:t>
            </a:r>
            <a:br>
              <a:rPr lang="en-US" sz="3200" dirty="0"/>
            </a:br>
            <a:r>
              <a:rPr lang="en-US" sz="3200" dirty="0"/>
              <a:t>Demonstrates use of string filtering in SQL and helps list directors based on naming patterns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002190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399EB-294E-FF44-E178-D26E8F448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319" y="603828"/>
            <a:ext cx="7043617" cy="1189703"/>
          </a:xfrm>
        </p:spPr>
        <p:txBody>
          <a:bodyPr/>
          <a:lstStyle/>
          <a:p>
            <a:r>
              <a:rPr lang="en-IN" dirty="0"/>
              <a:t>6. Count female directors</a:t>
            </a:r>
            <a:br>
              <a:rPr lang="en-IN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B3A2E6D-2D8D-AE55-72F1-8821ECC57576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/>
          <a:stretch>
            <a:fillRect/>
          </a:stretch>
        </p:blipFill>
        <p:spPr>
          <a:xfrm>
            <a:off x="4170228" y="1329227"/>
            <a:ext cx="7043737" cy="1582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4B6721-D050-A31C-D7A6-1C9D671A6683}"/>
              </a:ext>
            </a:extLst>
          </p:cNvPr>
          <p:cNvSpPr txBox="1"/>
          <p:nvPr/>
        </p:nvSpPr>
        <p:spPr>
          <a:xfrm>
            <a:off x="3758380" y="4065640"/>
            <a:ext cx="25440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OUTPUT:-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F7D223-2A52-DBD8-BDD8-F64DF9858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731" y="4082867"/>
            <a:ext cx="2829320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127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E47EC-BEFA-9EA2-014B-FCC962025D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399" y="1454721"/>
            <a:ext cx="10511627" cy="3948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6.  Count female directors</a:t>
            </a:r>
          </a:p>
          <a:p>
            <a:r>
              <a:rPr lang="en-US" sz="2800" b="1" dirty="0"/>
              <a:t>Insight:</a:t>
            </a:r>
            <a:br>
              <a:rPr lang="en-US" sz="2800" dirty="0"/>
            </a:br>
            <a:r>
              <a:rPr lang="en-US" sz="2800" dirty="0"/>
              <a:t>This query counts how many female directors are present in the dataset, enabling gender-based analysis.</a:t>
            </a:r>
          </a:p>
          <a:p>
            <a:r>
              <a:rPr lang="en-US" sz="2800" b="1" dirty="0"/>
              <a:t>Result Meaning:</a:t>
            </a:r>
            <a:br>
              <a:rPr lang="en-US" sz="2800" dirty="0"/>
            </a:br>
            <a:r>
              <a:rPr lang="en-US" sz="2800" dirty="0"/>
              <a:t>Helps understand gender diversity among directors in the IMDB dataset.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90571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6363B-72C2-05B0-D914-71ED6227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319" y="692943"/>
            <a:ext cx="7043617" cy="1213978"/>
          </a:xfrm>
        </p:spPr>
        <p:txBody>
          <a:bodyPr/>
          <a:lstStyle/>
          <a:p>
            <a:r>
              <a:rPr lang="en-US" dirty="0"/>
              <a:t>7.  Find the name of the 10th first women director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A013B1-CFD5-AD4F-38E7-098229032417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/>
          <a:stretch>
            <a:fillRect/>
          </a:stretch>
        </p:blipFill>
        <p:spPr>
          <a:xfrm>
            <a:off x="4147729" y="2037401"/>
            <a:ext cx="7043737" cy="17640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6E5EE1-D170-7671-9101-35CE35CC49AD}"/>
              </a:ext>
            </a:extLst>
          </p:cNvPr>
          <p:cNvSpPr txBox="1"/>
          <p:nvPr/>
        </p:nvSpPr>
        <p:spPr>
          <a:xfrm>
            <a:off x="3758380" y="4065640"/>
            <a:ext cx="25440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OUTPUT:-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BC0D7D-CD4F-F1FA-240B-979FB0349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477" y="4489952"/>
            <a:ext cx="4318304" cy="176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30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9FF9E-1332-0626-AB00-49703028B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7252" y="1047705"/>
            <a:ext cx="10511627" cy="3948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7. Find the name of the 10th first women director</a:t>
            </a:r>
          </a:p>
          <a:p>
            <a:r>
              <a:rPr lang="en-US" sz="2800" b="1" dirty="0"/>
              <a:t>Insight:</a:t>
            </a:r>
            <a:br>
              <a:rPr lang="en-US" sz="2800" dirty="0"/>
            </a:br>
            <a:r>
              <a:rPr lang="en-US" sz="2800" dirty="0"/>
              <a:t>This query lists female directors alphabetically and retrieves the 10th entry, showing ordered data access.</a:t>
            </a:r>
          </a:p>
          <a:p>
            <a:r>
              <a:rPr lang="en-US" sz="2800" b="1" dirty="0"/>
              <a:t>Result Meaning:</a:t>
            </a:r>
            <a:br>
              <a:rPr lang="en-US" sz="2800" dirty="0"/>
            </a:br>
            <a:r>
              <a:rPr lang="en-US" sz="2800" dirty="0"/>
              <a:t>Demonstrates use of ORDER BY and OFFSET for positional data retrieval.</a:t>
            </a:r>
          </a:p>
          <a:p>
            <a:endParaRPr lang="en-I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CE3ED-365F-499E-604A-61BCB280F2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429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2EE86-2436-9AA3-6C3D-7BBCB2594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318" y="1"/>
            <a:ext cx="7043617" cy="1455174"/>
          </a:xfrm>
        </p:spPr>
        <p:txBody>
          <a:bodyPr/>
          <a:lstStyle/>
          <a:p>
            <a:r>
              <a:rPr lang="en-US" dirty="0"/>
              <a:t>8. What are the 3 most popular movies?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49FDAC-0A49-8EF6-9B21-5A5BA1CA0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757" y="1526341"/>
            <a:ext cx="6700800" cy="15229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DB18F6-BA94-215A-CD9B-2F21E35AB717}"/>
              </a:ext>
            </a:extLst>
          </p:cNvPr>
          <p:cNvSpPr txBox="1"/>
          <p:nvPr/>
        </p:nvSpPr>
        <p:spPr>
          <a:xfrm>
            <a:off x="3758380" y="3711697"/>
            <a:ext cx="25440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OUTPUT:-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0D9E17-E346-3DDF-341F-ABCA59F91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477" y="4065640"/>
            <a:ext cx="4401164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62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DA12F-E80D-C035-CE22-752EA837E8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1637641"/>
            <a:ext cx="10511627" cy="3948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8. What are the 3 most popular movies?</a:t>
            </a:r>
          </a:p>
          <a:p>
            <a:r>
              <a:rPr lang="en-US" sz="2800" b="1" dirty="0"/>
              <a:t>Insight:</a:t>
            </a:r>
            <a:br>
              <a:rPr lang="en-US" sz="2800" dirty="0"/>
            </a:br>
            <a:r>
              <a:rPr lang="en-US" sz="2800" dirty="0"/>
              <a:t>This query identifies movies with the highest popularity scores, indicating audience interest and visibility.</a:t>
            </a:r>
          </a:p>
          <a:p>
            <a:r>
              <a:rPr lang="en-US" sz="2800" b="1" dirty="0"/>
              <a:t>Result Meaning:</a:t>
            </a:r>
            <a:br>
              <a:rPr lang="en-US" sz="2800" dirty="0"/>
            </a:br>
            <a:r>
              <a:rPr lang="en-US" sz="2800" dirty="0"/>
              <a:t>Popular movies often reflect strong audience engagement and widespread recognition.</a:t>
            </a:r>
          </a:p>
          <a:p>
            <a:endParaRPr lang="en-I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8CB8-1040-1E31-9947-8A6C64DD1B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337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2E8A4-7E71-EC75-5504-0D83A2AA0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35457"/>
            <a:ext cx="7043617" cy="899345"/>
          </a:xfrm>
        </p:spPr>
        <p:txBody>
          <a:bodyPr/>
          <a:lstStyle/>
          <a:p>
            <a:r>
              <a:rPr lang="en-IN" dirty="0"/>
              <a:t>9.</a:t>
            </a:r>
            <a:r>
              <a:rPr lang="en-US" dirty="0"/>
              <a:t>  What are the 3 most bankable movies?</a:t>
            </a:r>
            <a:br>
              <a:rPr lang="en-US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AC8B1F1-3212-1900-304C-F6307180E424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/>
          <a:stretch>
            <a:fillRect/>
          </a:stretch>
        </p:blipFill>
        <p:spPr>
          <a:xfrm>
            <a:off x="4098567" y="1505656"/>
            <a:ext cx="7043737" cy="18255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5509C6-5624-2359-194F-AAE30FDEA3A1}"/>
              </a:ext>
            </a:extLst>
          </p:cNvPr>
          <p:cNvSpPr txBox="1"/>
          <p:nvPr/>
        </p:nvSpPr>
        <p:spPr>
          <a:xfrm>
            <a:off x="3758380" y="3711697"/>
            <a:ext cx="254409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dirty="0"/>
              <a:t>OUTPUT:-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4986C8-DD84-7403-D8DB-BA0C07252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615" y="4514027"/>
            <a:ext cx="4182059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608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5DD37-97E4-7CF8-4DE7-DBB415A542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40186" y="928688"/>
            <a:ext cx="10511627" cy="3948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9. What are the 3 most bankable movies?</a:t>
            </a:r>
          </a:p>
          <a:p>
            <a:r>
              <a:rPr lang="en-US" sz="2800" b="1" dirty="0"/>
              <a:t>Insight:</a:t>
            </a:r>
            <a:br>
              <a:rPr lang="en-US" sz="2800" dirty="0"/>
            </a:br>
            <a:r>
              <a:rPr lang="en-US" sz="2800" dirty="0"/>
              <a:t>Bankable movies are identified using revenue, showing which movies earned the most money.</a:t>
            </a:r>
          </a:p>
          <a:p>
            <a:r>
              <a:rPr lang="en-US" sz="2800" b="1" dirty="0"/>
              <a:t>Result Meaning:</a:t>
            </a:r>
            <a:br>
              <a:rPr lang="en-US" sz="2800" dirty="0"/>
            </a:br>
            <a:r>
              <a:rPr lang="en-US" sz="2800" dirty="0"/>
              <a:t>High revenue indicates commercial success regardless of critical ratings.</a:t>
            </a:r>
          </a:p>
          <a:p>
            <a:endParaRPr lang="en-I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6AF99-CBF9-5C75-B851-7A64C6D990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168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06FD8-3C91-ADC4-9CE5-AB00C511C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8" y="2128991"/>
            <a:ext cx="7043617" cy="712532"/>
          </a:xfrm>
        </p:spPr>
        <p:txBody>
          <a:bodyPr/>
          <a:lstStyle/>
          <a:p>
            <a:r>
              <a:rPr lang="en-US" dirty="0"/>
              <a:t>10.  What is the most awarded average vote since January 1st, 2000?</a:t>
            </a:r>
            <a:br>
              <a:rPr lang="en-US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70325EB-5C2A-D396-1F3D-CDF2090AF6E6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/>
          <a:stretch>
            <a:fillRect/>
          </a:stretch>
        </p:blipFill>
        <p:spPr>
          <a:xfrm>
            <a:off x="4128064" y="2339937"/>
            <a:ext cx="7043737" cy="14146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46792D-869B-47C9-A80C-192399D33B1D}"/>
              </a:ext>
            </a:extLst>
          </p:cNvPr>
          <p:cNvSpPr txBox="1"/>
          <p:nvPr/>
        </p:nvSpPr>
        <p:spPr>
          <a:xfrm>
            <a:off x="3758380" y="4193477"/>
            <a:ext cx="254409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dirty="0"/>
              <a:t>OUTPUT:-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0644D3-D4A7-7DE2-0347-B743BBC14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716" y="4849744"/>
            <a:ext cx="6001588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17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593B7-D876-8577-617E-48ECB844B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40186" y="1205022"/>
            <a:ext cx="10511627" cy="3948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10. What is the most awarded average vote since January 1st, 2000?</a:t>
            </a:r>
          </a:p>
          <a:p>
            <a:r>
              <a:rPr lang="en-US" sz="2800" b="1" dirty="0"/>
              <a:t>Insight:</a:t>
            </a:r>
            <a:br>
              <a:rPr lang="en-US" sz="2800" dirty="0"/>
            </a:br>
            <a:r>
              <a:rPr lang="en-US" sz="2800" dirty="0"/>
              <a:t>This query finds the highest-rated movie released after 2000, focusing on quality and audience appreciation.</a:t>
            </a:r>
          </a:p>
          <a:p>
            <a:r>
              <a:rPr lang="en-US" sz="2800" b="1" dirty="0"/>
              <a:t>Result Meaning:</a:t>
            </a:r>
            <a:br>
              <a:rPr lang="en-US" sz="2800" dirty="0"/>
            </a:br>
            <a:r>
              <a:rPr lang="en-US" sz="2800" dirty="0"/>
              <a:t>Shows which modern movie received the best average audience rating.</a:t>
            </a:r>
          </a:p>
          <a:p>
            <a:endParaRPr lang="en-I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1BBF9-FEB8-D7BA-739E-7AD2777813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223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B47E-95DC-3628-5DE9-04D64AD0C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1253307"/>
          </a:xfrm>
        </p:spPr>
        <p:txBody>
          <a:bodyPr/>
          <a:lstStyle/>
          <a:p>
            <a:r>
              <a:rPr lang="en-US" dirty="0"/>
              <a:t>11) Which movie(s) were directed by Brenda Chapman?</a:t>
            </a:r>
            <a:br>
              <a:rPr lang="en-US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7ED449-0E3E-2020-D196-09B9EAE708C9}"/>
              </a:ext>
            </a:extLst>
          </p:cNvPr>
          <p:cNvSpPr txBox="1"/>
          <p:nvPr/>
        </p:nvSpPr>
        <p:spPr>
          <a:xfrm>
            <a:off x="3660058" y="3996832"/>
            <a:ext cx="254409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dirty="0"/>
              <a:t>OUTPUT:-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3E536B-BF8D-7876-0E14-FA47A4D6D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717" y="1872009"/>
            <a:ext cx="7049854" cy="1253307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DEC38E1-C9F1-A3DF-2285-E814F1737622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3"/>
          <a:stretch>
            <a:fillRect/>
          </a:stretch>
        </p:blipFill>
        <p:spPr>
          <a:xfrm>
            <a:off x="4119717" y="4788043"/>
            <a:ext cx="7043737" cy="157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724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7315D-EEE7-4C16-FBBF-680F48AE12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1116532"/>
            <a:ext cx="10511627" cy="394855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/>
              <a:t>11. Which movie(s) were directed by Brenda Chapman?</a:t>
            </a:r>
          </a:p>
          <a:p>
            <a:r>
              <a:rPr lang="en-US" sz="2800" b="1" dirty="0"/>
              <a:t>Insight:</a:t>
            </a:r>
            <a:br>
              <a:rPr lang="en-US" sz="2800" dirty="0"/>
            </a:br>
            <a:r>
              <a:rPr lang="en-US" sz="2800" dirty="0"/>
              <a:t>The query checks whether any movies in the dataset are associated with Brenda Chapman.</a:t>
            </a:r>
          </a:p>
          <a:p>
            <a:r>
              <a:rPr lang="en-US" sz="2800" b="1" dirty="0"/>
              <a:t>Result Meaning (Important):</a:t>
            </a:r>
            <a:br>
              <a:rPr lang="en-US" sz="2800" dirty="0"/>
            </a:br>
            <a:r>
              <a:rPr lang="en-US" sz="2800" dirty="0"/>
              <a:t>No movies are linked to Brenda Chapman in this dataset.</a:t>
            </a:r>
          </a:p>
          <a:p>
            <a:r>
              <a:rPr lang="en-US" sz="2800" b="1" dirty="0"/>
              <a:t>Final Insight Statement:</a:t>
            </a:r>
            <a:br>
              <a:rPr lang="en-US" sz="2800" dirty="0"/>
            </a:br>
            <a:r>
              <a:rPr lang="en-US" sz="2800" dirty="0"/>
              <a:t>This indicates that either her movies are not included or director-movie mapping is missing in the dataset.</a:t>
            </a:r>
          </a:p>
          <a:p>
            <a:endParaRPr lang="en-I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CF472-E078-BF89-5EB8-0554120FEB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702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6E52-6D1A-AFA6-E3FE-B444167A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738291"/>
          </a:xfrm>
        </p:spPr>
        <p:txBody>
          <a:bodyPr/>
          <a:lstStyle/>
          <a:p>
            <a:r>
              <a:rPr lang="en-US" dirty="0"/>
              <a:t>12. Which director made the most movies?</a:t>
            </a:r>
            <a:br>
              <a:rPr lang="en-US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E951E82-78D3-B995-ACF7-044C2978F97D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/>
          <a:stretch>
            <a:fillRect/>
          </a:stretch>
        </p:blipFill>
        <p:spPr>
          <a:xfrm>
            <a:off x="6526352" y="4511829"/>
            <a:ext cx="3505689" cy="1476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9BB5B6-9C6C-5518-33A8-F02C62EB9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997" y="1426419"/>
            <a:ext cx="5643567" cy="23046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43FD46-8437-BDC6-B7AD-C744F2ABC9EF}"/>
              </a:ext>
            </a:extLst>
          </p:cNvPr>
          <p:cNvSpPr txBox="1"/>
          <p:nvPr/>
        </p:nvSpPr>
        <p:spPr>
          <a:xfrm>
            <a:off x="3660058" y="3996832"/>
            <a:ext cx="254409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dirty="0"/>
              <a:t>OUTPUT:- </a:t>
            </a:r>
          </a:p>
        </p:txBody>
      </p:sp>
    </p:spTree>
    <p:extLst>
      <p:ext uri="{BB962C8B-B14F-4D97-AF65-F5344CB8AC3E}">
        <p14:creationId xmlns:p14="http://schemas.microsoft.com/office/powerpoint/2010/main" val="3905212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DFFA8-7F23-5A96-8CD8-8662ECB98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40186" y="1155861"/>
            <a:ext cx="10511627" cy="3948557"/>
          </a:xfrm>
        </p:spPr>
        <p:txBody>
          <a:bodyPr>
            <a:normAutofit/>
          </a:bodyPr>
          <a:lstStyle/>
          <a:p>
            <a:r>
              <a:rPr lang="en-US" sz="2800" b="1" dirty="0"/>
              <a:t>Which director made the most movies?</a:t>
            </a:r>
          </a:p>
          <a:p>
            <a:r>
              <a:rPr lang="en-US" sz="2800" b="1" dirty="0"/>
              <a:t>Insight:</a:t>
            </a:r>
            <a:br>
              <a:rPr lang="en-US" sz="2800" dirty="0"/>
            </a:br>
            <a:r>
              <a:rPr lang="en-US" sz="2800" dirty="0"/>
              <a:t>This query counts movies per director and finds the one with the highest count.</a:t>
            </a:r>
          </a:p>
          <a:p>
            <a:r>
              <a:rPr lang="en-US" sz="2800" b="1" dirty="0"/>
              <a:t>Result Meaning:</a:t>
            </a:r>
            <a:br>
              <a:rPr lang="en-US" sz="2800" dirty="0"/>
            </a:br>
            <a:r>
              <a:rPr lang="en-US" sz="2800" dirty="0"/>
              <a:t>Identifies the most prolific director in the dataset.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21817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F35CB-1996-8091-77A9-F53DC09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79913"/>
          </a:xfrm>
        </p:spPr>
        <p:txBody>
          <a:bodyPr/>
          <a:lstStyle/>
          <a:p>
            <a:r>
              <a:rPr lang="en-US" dirty="0"/>
              <a:t>13.  Which director is the most bankable?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142623D-96AA-7492-4758-755B15B52670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/>
          <a:stretch>
            <a:fillRect/>
          </a:stretch>
        </p:blipFill>
        <p:spPr>
          <a:xfrm>
            <a:off x="4273691" y="1620017"/>
            <a:ext cx="5946236" cy="22336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0E1719-527E-5C5D-4361-602942F36AB2}"/>
              </a:ext>
            </a:extLst>
          </p:cNvPr>
          <p:cNvSpPr txBox="1"/>
          <p:nvPr/>
        </p:nvSpPr>
        <p:spPr>
          <a:xfrm>
            <a:off x="3660058" y="4350775"/>
            <a:ext cx="254409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dirty="0"/>
              <a:t>OUTPUT:-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266CAD-BF7B-43AC-E64E-6314D41C3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301" y="4056927"/>
            <a:ext cx="4696480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049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F9BD4-37CE-B21B-5E84-7BC3C52D9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399" y="1106699"/>
            <a:ext cx="10511627" cy="3948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13. Which director is the most bankable?</a:t>
            </a:r>
          </a:p>
          <a:p>
            <a:r>
              <a:rPr lang="en-US" sz="2800" b="1" dirty="0"/>
              <a:t>Insight:</a:t>
            </a:r>
            <a:br>
              <a:rPr lang="en-US" sz="2800" dirty="0"/>
            </a:br>
            <a:r>
              <a:rPr lang="en-US" sz="2800" dirty="0"/>
              <a:t>This query sums total revenue for each director and identifies who generated the highest earnings.</a:t>
            </a:r>
          </a:p>
          <a:p>
            <a:r>
              <a:rPr lang="en-US" sz="2800" b="1" dirty="0"/>
              <a:t>Result Meaning:</a:t>
            </a:r>
            <a:br>
              <a:rPr lang="en-US" sz="2800" dirty="0"/>
            </a:br>
            <a:r>
              <a:rPr lang="en-US" sz="2800" dirty="0"/>
              <a:t>The most bankable director is the one whose movies collectively earned the most revenue, indicating strong commercial impact.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742280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sz="4400" dirty="0"/>
              <a:t>Thank </a:t>
            </a:r>
            <a:br>
              <a:rPr lang="en-US" sz="4400" dirty="0"/>
            </a:br>
            <a:r>
              <a:rPr lang="en-US" sz="4400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{9B2355DA-E96C-4B44-AAEF-C9BDAA4F7161}TF8a9b5915-b8c7-461e-8cdd-693d48b5e32371f7b7e2_win32-4bf0b9a2ea37</Template>
  <TotalTime>453</TotalTime>
  <Words>869</Words>
  <Application>Microsoft Office PowerPoint</Application>
  <PresentationFormat>Widescreen</PresentationFormat>
  <Paragraphs>75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Arial Black</vt:lpstr>
      <vt:lpstr>Calibri</vt:lpstr>
      <vt:lpstr>Sabon Next LT</vt:lpstr>
      <vt:lpstr>Custom</vt:lpstr>
      <vt:lpstr>PRSQ-02-IMDB Movies</vt:lpstr>
      <vt:lpstr>PowerPoint Presentation</vt:lpstr>
      <vt:lpstr>1.Can you get all data about movies? </vt:lpstr>
      <vt:lpstr>PowerPoint Presentation</vt:lpstr>
      <vt:lpstr>2. How do you get all data about directors?</vt:lpstr>
      <vt:lpstr>PowerPoint Presentation</vt:lpstr>
      <vt:lpstr>3. Check how many movies are present in IMDB.</vt:lpstr>
      <vt:lpstr>PowerPoint Presentation</vt:lpstr>
      <vt:lpstr>4. Find these 3 directors: James Cameron ; Luc Besson ; John Woo </vt:lpstr>
      <vt:lpstr>PowerPoint Presentation</vt:lpstr>
      <vt:lpstr>5. Find all directors with name starting with S. </vt:lpstr>
      <vt:lpstr>PowerPoint Presentation</vt:lpstr>
      <vt:lpstr>6. Count female directors </vt:lpstr>
      <vt:lpstr>PowerPoint Presentation</vt:lpstr>
      <vt:lpstr>7.  Find the name of the 10th first women director</vt:lpstr>
      <vt:lpstr>PowerPoint Presentation</vt:lpstr>
      <vt:lpstr>8. What are the 3 most popular movies?</vt:lpstr>
      <vt:lpstr>PowerPoint Presentation</vt:lpstr>
      <vt:lpstr>9.  What are the 3 most bankable movies? </vt:lpstr>
      <vt:lpstr>PowerPoint Presentation</vt:lpstr>
      <vt:lpstr>10.  What is the most awarded average vote since January 1st, 2000? </vt:lpstr>
      <vt:lpstr>PowerPoint Presentation</vt:lpstr>
      <vt:lpstr>11) Which movie(s) were directed by Brenda Chapman? </vt:lpstr>
      <vt:lpstr>PowerPoint Presentation</vt:lpstr>
      <vt:lpstr>12. Which director made the most movies? </vt:lpstr>
      <vt:lpstr>PowerPoint Presentation</vt:lpstr>
      <vt:lpstr>13.  Which director is the most bankable?</vt:lpstr>
      <vt:lpstr>PowerPoint Presentation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khush Panchal</dc:creator>
  <cp:lastModifiedBy>khush Panchal</cp:lastModifiedBy>
  <cp:revision>1</cp:revision>
  <dcterms:created xsi:type="dcterms:W3CDTF">2026-02-07T06:14:47Z</dcterms:created>
  <dcterms:modified xsi:type="dcterms:W3CDTF">2026-02-07T13:48:00Z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